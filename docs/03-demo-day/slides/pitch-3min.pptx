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34f80f549c74982" /><Relationship Type="http://schemas.openxmlformats.org/officeDocument/2006/relationships/extended-properties" Target="/docProps/app.xml" Id="R7310eb8fc81c47dd" /><Relationship Type="http://schemas.openxmlformats.org/officeDocument/2006/relationships/officeDocument" Target="/ppt/presentation.xml" Id="Redb8324f19a647d2" /></Relationships>
</file>

<file path=ppt/presentation.xml><?xml version="1.0" encoding="utf-8"?>
<p:presentation xmlns:p="http://schemas.openxmlformats.org/presentationml/2006/main">
  <p:sldMasterIdLst>
    <p:sldMasterId xmlns:r="http://schemas.openxmlformats.org/officeDocument/2006/relationships" id="2147483648" r:id="Ra40fd649396d4604"/>
  </p:sldMasterIdLst>
  <p:notesMasterIdLst>
    <p:notesMasterId xmlns:r="http://schemas.openxmlformats.org/officeDocument/2006/relationships" r:id="R0f7fc6230c3c4c49"/>
  </p:notesMasterIdLst>
  <p:sldIdLst>
    <p:sldId xmlns:r="http://schemas.openxmlformats.org/officeDocument/2006/relationships" id="256" r:id="R422cbe5add5f4c5d"/>
    <p:sldId xmlns:r="http://schemas.openxmlformats.org/officeDocument/2006/relationships" id="257" r:id="R329d19e4067c45bc"/>
    <p:sldId xmlns:r="http://schemas.openxmlformats.org/officeDocument/2006/relationships" id="258" r:id="R3b930debe499429b"/>
    <p:sldId xmlns:r="http://schemas.openxmlformats.org/officeDocument/2006/relationships" id="259" r:id="Rfbaffef4b61946f2"/>
    <p:sldId xmlns:r="http://schemas.openxmlformats.org/officeDocument/2006/relationships" id="260" r:id="R5df4170c9e9b411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c692064f4134bf4" /><Relationship Type="http://schemas.openxmlformats.org/officeDocument/2006/relationships/slideMaster" Target="/ppt/slideMasters/slideMaster1.xml" Id="Ra40fd649396d4604" /><Relationship Type="http://schemas.openxmlformats.org/officeDocument/2006/relationships/notesMaster" Target="/ppt/notesMasters/notesMaster1.xml" Id="R0f7fc6230c3c4c49" /><Relationship Type="http://schemas.openxmlformats.org/officeDocument/2006/relationships/presProps" Target="/ppt/presProps.xml" Id="Rf68e639e21754844" /><Relationship Type="http://schemas.openxmlformats.org/officeDocument/2006/relationships/tableStyles" Target="/ppt/tableStyles.xml" Id="Rf9eda1e39bc34d55" /><Relationship Type="http://schemas.openxmlformats.org/officeDocument/2006/relationships/slide" Target="/ppt/slides/slide1.xml" Id="R422cbe5add5f4c5d" /><Relationship Type="http://schemas.openxmlformats.org/officeDocument/2006/relationships/slide" Target="/ppt/slides/slide2.xml" Id="R329d19e4067c45bc" /><Relationship Type="http://schemas.openxmlformats.org/officeDocument/2006/relationships/slide" Target="/ppt/slides/slide3.xml" Id="R3b930debe499429b" /><Relationship Type="http://schemas.openxmlformats.org/officeDocument/2006/relationships/slide" Target="/ppt/slides/slide4.xml" Id="Rfbaffef4b61946f2" /><Relationship Type="http://schemas.openxmlformats.org/officeDocument/2006/relationships/slide" Target="/ppt/slides/slide5.xml" Id="R5df4170c9e9b411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3658989a2e3443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8a88c55b9b945d9" /><Relationship Type="http://schemas.openxmlformats.org/officeDocument/2006/relationships/notesMaster" Target="/ppt/notesMasters/notesMaster1.xml" Id="R570e676b3b50414a" /></Relationships>
</file>

<file path=ppt/notesSlides/_rels/notesSlide2.xml.rels>&#65279;<?xml version="1.0" encoding="utf-8"?><Relationships xmlns="http://schemas.openxmlformats.org/package/2006/relationships"><Relationship Type="http://schemas.openxmlformats.org/officeDocument/2006/relationships/slide" Target="/ppt/slides/slide2.xml" Id="R57a7a09c76b4427f" /><Relationship Type="http://schemas.openxmlformats.org/officeDocument/2006/relationships/notesMaster" Target="/ppt/notesMasters/notesMaster1.xml" Id="R72324d476f7847bd" /></Relationships>
</file>

<file path=ppt/notesSlides/_rels/notesSlide3.xml.rels>&#65279;<?xml version="1.0" encoding="utf-8"?><Relationships xmlns="http://schemas.openxmlformats.org/package/2006/relationships"><Relationship Type="http://schemas.openxmlformats.org/officeDocument/2006/relationships/slide" Target="/ppt/slides/slide3.xml" Id="R3b84769e8e1e46a4" /><Relationship Type="http://schemas.openxmlformats.org/officeDocument/2006/relationships/notesMaster" Target="/ppt/notesMasters/notesMaster1.xml" Id="R1505e9b28b5d46e3" /></Relationships>
</file>

<file path=ppt/notesSlides/_rels/notesSlide4.xml.rels>&#65279;<?xml version="1.0" encoding="utf-8"?><Relationships xmlns="http://schemas.openxmlformats.org/package/2006/relationships"><Relationship Type="http://schemas.openxmlformats.org/officeDocument/2006/relationships/slide" Target="/ppt/slides/slide4.xml" Id="R8c272138ed944f5a" /><Relationship Type="http://schemas.openxmlformats.org/officeDocument/2006/relationships/notesMaster" Target="/ppt/notesMasters/notesMaster1.xml" Id="R915ba96c2e0a4e67" /></Relationships>
</file>

<file path=ppt/notesSlides/_rels/notesSlide5.xml.rels>&#65279;<?xml version="1.0" encoding="utf-8"?><Relationships xmlns="http://schemas.openxmlformats.org/package/2006/relationships"><Relationship Type="http://schemas.openxmlformats.org/officeDocument/2006/relationships/slide" Target="/ppt/slides/slide5.xml" Id="R987a87d1464a4569" /><Relationship Type="http://schemas.openxmlformats.org/officeDocument/2006/relationships/notesMaster" Target="/ppt/notesMasters/notesMaster1.xml" Id="Rbd6532c5c4dc4f0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0:00–0:30. Somos [equipo], y estamos construyendo Frontier Agent para delegar tareas en aplicaciones nuevas. Pensemos en alguien que debe buscar un cliente, actualizar un dato o exportar un reporte. Cuando no hay API, una persona tiene que recorrer la interfaz, reconocer controles y comprobar el resultado. Si la pantalla cambia, debe encontrar el recorrido otra vez. Público inicial propuesto, no cliente validado. Fuentes: README.md, docs/requisitos-reto-1.md. Esta es la hipótesis de problema del proyecto.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0:30–0:55. Salesforce reporta que los representantes de ventas dedican el 60% del tiempo a actividades distintas de vender, y el 42% se siente abrumado por la cantidad de herramientas. Estos datos muestran una fricción real en ese segmento. No todo ese tiempo es automatizable ni hemos medido cuánto ahorra nuestro agente. Fuente: Salesforce, State of Sales 7.ª edición, 2026, páginas 8 y 16; metodología página 3. Encuesta anónima a 4.050 profesionales de ventas en 22 países, agosto–septiembre de 2025; las cifras se refieren a representantes de ventas y el total es la muestra del informe, no el N exacto de cada pregunta. https://www.salesforce.com/en/wp-content/uploads/sites/4/documents/reports/sales/salesforce-state-of-sales-report-2026.pdf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0:55–1:35. Nuestra solución es Frontier Agent: recibe una instrucción, observa la pantalla y decide el siguiente paso. Usa teclado y ratón para actuar y vuelve a mirar para comprobar el efecto. Si encuentra un bloqueo, ajusta el plan; si la identidad es ambigua, se detiene antes de modificar. La meta es resolver distintas tareas permitidas en una app nueva sin programar cada clic. La adaptación general sigue pendiente de validación. El grafo coordina operador, verificador y recovery; un gateway único ejecuta, con controles de alcance y plazo. Fuente: docs/02-ejecucion/integracion-openrouter-v2.md y app/agents/graph_v2.py.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1:35–2:35. Distribución: 10 s instrucción y estado inicial; 35 s recorrido; 15 s evidencia final y chequeo externo. Introducir una tarea real validada. Mostrar qué control reconoce, qué acción decide y cómo verifica el efecto. Si hay variación de interfaz real, mostrar la decisión que cambia; si no, no afirmar adaptación demostrada. Usar un clip real sanitizado si el recorrido excede el bloque e identificarlo como grabación, declarando duración real. No ocultar fallos. No exponer pantallas privadas sin revisión. Fuente: docs/02-ejecucion/evaluaciones.md.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2:35–3:00. En [N ejecuciones] obtuvimos [resultado], en [tiempo]. El límite observado fue [fallo]; priorizamos [mejora]. Nuestra meta es que el usuario exprese la tarea y el agente encuentre el recorrido. Completar métricas y conclusión al terminar el reto. Hoy hay antecedentes de integración y consulta real sólo lectura; no acreditan E1–E5 ni ahorro de tiempo. Fuente: docs/02-ejecucion/integracion-openrouter-v2.md. La estructura usa principios de claridad, narrativa y simplicidad de https://www.ycombinator.com/blog/guide-to-demo-day-pitches y https://www.ycombinator.com/blog/how-to-design-a-better-pitch-deck, adaptados al jurado del reto.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b1b1b6cb88343e3"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ab2502c785284d5b"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bb3c5d1ab0a74b43"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1ca67e7357994627"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f45500ba751a4a1e"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0b86eafbbe1f410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F0A555F-D676-4E30-AA5A-77A4F174EF7B}"/>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7F783AEB-EB8A-44D0-8212-8140BE37D152}"/>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4059043B-7139-4A2C-93D9-219CEF7270AF}"/>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408E090-6017-460F-B59A-81D4B42E235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286271EC-4A24-409D-8615-C5EB64C099B0}"/>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5F809584-C2C2-475F-A6CB-66EC38FC5BC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B4A1C4B-ADF7-462E-9FAC-9B9C712FEDE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E9B5D380-9AD1-4594-BF29-548D97F935C2}"/>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DAFAAD8-B4B5-4478-81F1-272D05CD43C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AD362D6-24F9-4D6F-A821-F0498B3345F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028895e73e54516" /><Relationship Type="http://schemas.openxmlformats.org/officeDocument/2006/relationships/slideLayout" Target="/ppt/slideLayouts/slideLayout1.xml" Id="Rffa4b8655d8d4eed" /><Relationship Type="http://schemas.openxmlformats.org/officeDocument/2006/relationships/slideLayout" Target="/ppt/slideLayouts/slideLayout2.xml" Id="R961f52a1fd2b428a" /><Relationship Type="http://schemas.openxmlformats.org/officeDocument/2006/relationships/slideLayout" Target="/ppt/slideLayouts/slideLayout3.xml" Id="Rd8b12992bd8d4aec" /><Relationship Type="http://schemas.openxmlformats.org/officeDocument/2006/relationships/slideLayout" Target="/ppt/slideLayouts/slideLayout4.xml" Id="Rf09da64d335c4234" /><Relationship Type="http://schemas.openxmlformats.org/officeDocument/2006/relationships/slideLayout" Target="/ppt/slideLayouts/slideLayout5.xml" Id="Rd863539c0afa4711" /><Relationship Type="http://schemas.openxmlformats.org/officeDocument/2006/relationships/slideLayout" Target="/ppt/slideLayouts/slideLayout6.xml" Id="Re940035f49f642d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fa4b8655d8d4eed"/>
    <p:sldLayoutId xmlns:r="http://schemas.openxmlformats.org/officeDocument/2006/relationships" id="2147483650" r:id="R961f52a1fd2b428a"/>
    <p:sldLayoutId xmlns:r="http://schemas.openxmlformats.org/officeDocument/2006/relationships" id="2147483651" r:id="Rd8b12992bd8d4aec"/>
    <p:sldLayoutId xmlns:r="http://schemas.openxmlformats.org/officeDocument/2006/relationships" id="2147483652" r:id="Rf09da64d335c4234"/>
    <p:sldLayoutId xmlns:r="http://schemas.openxmlformats.org/officeDocument/2006/relationships" id="2147483653" r:id="Rd863539c0afa4711"/>
    <p:sldLayoutId xmlns:r="http://schemas.openxmlformats.org/officeDocument/2006/relationships" id="2147483654" r:id="Re940035f49f642d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e47987e5e3234a66" /><Relationship Type="http://schemas.openxmlformats.org/officeDocument/2006/relationships/notesSlide" Target="/ppt/notesSlides/notesSlide1.xml" Id="Racea73b9e17a4ac7"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09c1ba22f1e64043" /><Relationship Type="http://schemas.openxmlformats.org/officeDocument/2006/relationships/notesSlide" Target="/ppt/notesSlides/notesSlide2.xml" Id="Rb1fb93fe5aa34e96"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35bd0953515a46e3" /><Relationship Type="http://schemas.openxmlformats.org/officeDocument/2006/relationships/notesSlide" Target="/ppt/notesSlides/notesSlide3.xml" Id="R0c34ff8e0a6446ab"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8864384045994063" /><Relationship Type="http://schemas.openxmlformats.org/officeDocument/2006/relationships/notesSlide" Target="/ppt/notesSlides/notesSlide4.xml" Id="R1bdea3bb48004b45"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3e2a32b4d6de4af1" /><Relationship Type="http://schemas.openxmlformats.org/officeDocument/2006/relationships/notesSlide" Target="/ppt/notesSlides/notesSlide5.xml" Id="Rcc0848be77c94e0b" /></Relationships>
</file>

<file path=ppt/slides/slide1.xml><?xml version="1.0" encoding="utf-8"?>
<p:sld xmlns:p="http://schemas.openxmlformats.org/presentationml/2006/main">
  <p:cSld>
    <p:bg>
      <p:bgPr>
        <a:solidFill xmlns:a="http://schemas.openxmlformats.org/drawingml/2006/main">
          <a:srgbClr val="FFFCF7"/>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A4F290E-6C84-4F6F-9807-D9A9F688D34F}"/>
              </a:ext>
            </a:extLst>
          </p:cNvPr>
          <p:cNvSpPr>
            <a:spLocks xmlns:a="http://schemas.openxmlformats.org/drawingml/2006/main" noGrp="1"/>
          </p:cNvSpPr>
          <p:nvPr/>
        </p:nvSpPr>
        <p:spPr>
          <a:xfrm xmlns:a="http://schemas.openxmlformats.org/drawingml/2006/main">
            <a:off x="723900" y="495300"/>
            <a:ext cx="1076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75" b="1">
                <a:solidFill>
                  <a:srgbClr val="087E9A"/>
                </a:solidFill>
                <a:latin typeface="Helvetica Neue"/>
                <a:ea typeface="Helvetica Neue"/>
                <a:cs typeface="Helvetica Neue"/>
              </a:defRPr>
            </a:defPPr>
          </a:lstStyle>
          <a:p xmlns:a="http://schemas.openxmlformats.org/drawingml/2006/main">
            <a:pPr>
              <a:defRPr sz="2475" b="1">
                <a:solidFill>
                  <a:srgbClr val="087E9A"/>
                </a:solidFill>
                <a:latin typeface="Helvetica Neue"/>
                <a:ea typeface="Helvetica Neue"/>
                <a:cs typeface="Helvetica Neue"/>
              </a:defRPr>
            </a:pPr>
            <a:r>
              <a:rPr sz="2475" b="1">
                <a:solidFill>
                  <a:srgbClr val="087E9A"/>
                </a:solidFill>
                <a:latin typeface="Helvetica Neue"/>
                <a:ea typeface="Helvetica Neue"/>
                <a:cs typeface="Helvetica Neue"/>
              </a:rPr>
              <a:t>El problema · Frontier Agent</a:t>
            </a:r>
          </a:p>
        </p:txBody>
      </p:sp>
      <p:sp>
        <p:nvSpPr>
          <p:cNvPr id="2" name="">
            <a:extLst xmlns:a="http://schemas.openxmlformats.org/drawingml/2006/main">
              <a:ext uri="{FF2B5EF4-FFF2-40B4-BE49-F238E27FC236}">
                <a16:creationId xmlns:a16="http://schemas.microsoft.com/office/drawing/2014/main" id="{57961974-91AD-42E1-8BD5-3ABEABCC81E4}"/>
              </a:ext>
            </a:extLst>
          </p:cNvPr>
          <p:cNvSpPr>
            <a:spLocks xmlns:a="http://schemas.openxmlformats.org/drawingml/2006/main" noGrp="1"/>
          </p:cNvSpPr>
          <p:nvPr/>
        </p:nvSpPr>
        <p:spPr>
          <a:xfrm xmlns:a="http://schemas.openxmlformats.org/drawingml/2006/main">
            <a:off x="723900" y="1533525"/>
            <a:ext cx="10763250" cy="1543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975" b="1">
                <a:solidFill>
                  <a:srgbClr val="183B50"/>
                </a:solidFill>
                <a:latin typeface="Helvetica Neue"/>
                <a:ea typeface="Helvetica Neue"/>
                <a:cs typeface="Helvetica Neue"/>
              </a:defRPr>
            </a:defPPr>
          </a:lstStyle>
          <a:p xmlns:a="http://schemas.openxmlformats.org/drawingml/2006/main">
            <a:pPr>
              <a:defRPr sz="3975" b="1">
                <a:solidFill>
                  <a:srgbClr val="183B50"/>
                </a:solidFill>
                <a:latin typeface="Helvetica Neue"/>
                <a:ea typeface="Helvetica Neue"/>
                <a:cs typeface="Helvetica Neue"/>
              </a:defRPr>
            </a:pPr>
            <a:r>
              <a:rPr sz="3975" b="1">
                <a:solidFill>
                  <a:srgbClr val="183B50"/>
                </a:solidFill>
                <a:latin typeface="Helvetica Neue"/>
                <a:ea typeface="Helvetica Neue"/>
                <a:cs typeface="Helvetica Neue"/>
              </a:rPr>
              <a:t>Una tarea simple puede exigir</a:t>
            </a:r>
          </a:p>
          <a:p xmlns:a="http://schemas.openxmlformats.org/drawingml/2006/main">
            <a:pPr>
              <a:defRPr sz="3975" b="1">
                <a:solidFill>
                  <a:srgbClr val="183B50"/>
                </a:solidFill>
                <a:latin typeface="Helvetica Neue"/>
                <a:ea typeface="Helvetica Neue"/>
                <a:cs typeface="Helvetica Neue"/>
              </a:defRPr>
            </a:pPr>
            <a:r>
              <a:rPr sz="3975" b="1">
                <a:solidFill>
                  <a:srgbClr val="183B50"/>
                </a:solidFill>
                <a:latin typeface="Helvetica Neue"/>
                <a:ea typeface="Helvetica Neue"/>
                <a:cs typeface="Helvetica Neue"/>
              </a:rPr>
              <a:t>muchas pantallas.</a:t>
            </a:r>
          </a:p>
        </p:txBody>
      </p:sp>
      <p:sp>
        <p:nvSpPr>
          <p:cNvPr id="3" name="">
            <a:extLst xmlns:a="http://schemas.openxmlformats.org/drawingml/2006/main">
              <a:ext uri="{FF2B5EF4-FFF2-40B4-BE49-F238E27FC236}">
                <a16:creationId xmlns:a16="http://schemas.microsoft.com/office/drawing/2014/main" id="{2911315E-367A-4060-B7D2-465902BCC6BB}"/>
              </a:ext>
            </a:extLst>
          </p:cNvPr>
          <p:cNvSpPr>
            <a:spLocks xmlns:a="http://schemas.openxmlformats.org/drawingml/2006/main" noGrp="1"/>
          </p:cNvSpPr>
          <p:nvPr/>
        </p:nvSpPr>
        <p:spPr>
          <a:xfrm xmlns:a="http://schemas.openxmlformats.org/drawingml/2006/main">
            <a:off x="762000" y="3476625"/>
            <a:ext cx="10572750"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83B50"/>
                </a:solidFill>
                <a:latin typeface="Helvetica Neue"/>
                <a:ea typeface="Helvetica Neue"/>
                <a:cs typeface="Helvetica Neue"/>
              </a:defRPr>
            </a:defPPr>
          </a:lstStyle>
          <a:p xmlns:a="http://schemas.openxmlformats.org/drawingml/2006/main">
            <a:pPr>
              <a:defRPr sz="2175" b="0">
                <a:solidFill>
                  <a:srgbClr val="183B50"/>
                </a:solidFill>
                <a:latin typeface="Helvetica Neue"/>
                <a:ea typeface="Helvetica Neue"/>
                <a:cs typeface="Helvetica Neue"/>
              </a:defRPr>
            </a:pPr>
            <a:r>
              <a:rPr sz="2175" b="0">
                <a:solidFill>
                  <a:srgbClr val="183B50"/>
                </a:solidFill>
                <a:latin typeface="Helvetica Neue"/>
                <a:ea typeface="Helvetica Neue"/>
                <a:cs typeface="Helvetica Neue"/>
              </a:rPr>
              <a:t>Buscar un cliente. Actualizar un dato. Exportar un reporte.</a:t>
            </a:r>
          </a:p>
          <a:p xmlns:a="http://schemas.openxmlformats.org/drawingml/2006/main">
            <a:r>
              <a:t/>
            </a:r>
          </a:p>
          <a:p xmlns:a="http://schemas.openxmlformats.org/drawingml/2006/main">
            <a:pPr>
              <a:defRPr sz="2175" b="0">
                <a:solidFill>
                  <a:srgbClr val="183B50"/>
                </a:solidFill>
                <a:latin typeface="Helvetica Neue"/>
                <a:ea typeface="Helvetica Neue"/>
                <a:cs typeface="Helvetica Neue"/>
              </a:defRPr>
            </a:pPr>
            <a:r>
              <a:rPr sz="2175" b="0">
                <a:solidFill>
                  <a:srgbClr val="183B50"/>
                </a:solidFill>
                <a:latin typeface="Helvetica Neue"/>
                <a:ea typeface="Helvetica Neue"/>
                <a:cs typeface="Helvetica Neue"/>
              </a:rPr>
              <a:t>Sin API, una persona debe recorrer la interfaz.</a:t>
            </a:r>
          </a:p>
        </p:txBody>
      </p:sp>
      <p:sp>
        <p:nvSpPr>
          <p:cNvPr id="4" name="">
            <a:extLst xmlns:a="http://schemas.openxmlformats.org/drawingml/2006/main">
              <a:ext uri="{FF2B5EF4-FFF2-40B4-BE49-F238E27FC236}">
                <a16:creationId xmlns:a16="http://schemas.microsoft.com/office/drawing/2014/main" id="{65E8072E-5141-48C5-9831-786B55282773}"/>
              </a:ext>
            </a:extLst>
          </p:cNvPr>
          <p:cNvSpPr>
            <a:spLocks xmlns:a="http://schemas.openxmlformats.org/drawingml/2006/main" noGrp="1"/>
          </p:cNvSpPr>
          <p:nvPr/>
        </p:nvSpPr>
        <p:spPr>
          <a:xfrm xmlns:a="http://schemas.openxmlformats.org/drawingml/2006/main">
            <a:off x="762000" y="53340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B65422"/>
                </a:solidFill>
                <a:latin typeface="Helvetica Neue"/>
                <a:ea typeface="Helvetica Neue"/>
                <a:cs typeface="Helvetica Neue"/>
              </a:defRPr>
            </a:defPPr>
          </a:lstStyle>
          <a:p xmlns:a="http://schemas.openxmlformats.org/drawingml/2006/main">
            <a:pPr>
              <a:defRPr sz="1800" b="0">
                <a:solidFill>
                  <a:srgbClr val="B65422"/>
                </a:solidFill>
                <a:latin typeface="Helvetica Neue"/>
                <a:ea typeface="Helvetica Neue"/>
                <a:cs typeface="Helvetica Neue"/>
              </a:defRPr>
            </a:pPr>
            <a:r>
              <a:rPr sz="1800" b="0">
                <a:solidFill>
                  <a:srgbClr val="B65422"/>
                </a:solidFill>
                <a:latin typeface="Helvetica Neue"/>
                <a:ea typeface="Helvetica Neue"/>
                <a:cs typeface="Helvetica Neue"/>
              </a:rPr>
              <a:t>Usuario inicial propuesto: equipos de operación comercial.</a:t>
            </a:r>
          </a:p>
        </p:txBody>
      </p:sp>
      <p:sp>
        <p:nvSpPr>
          <p:cNvPr id="5" name="">
            <a:extLst xmlns:a="http://schemas.openxmlformats.org/drawingml/2006/main">
              <a:ext uri="{FF2B5EF4-FFF2-40B4-BE49-F238E27FC236}">
                <a16:creationId xmlns:a16="http://schemas.microsoft.com/office/drawing/2014/main" id="{9A682595-2AA8-4C5A-8449-8AF706A59445}"/>
              </a:ext>
            </a:extLst>
          </p:cNvPr>
          <p:cNvSpPr>
            <a:spLocks xmlns:a="http://schemas.openxmlformats.org/drawingml/2006/main" noGrp="1"/>
          </p:cNvSpPr>
          <p:nvPr/>
        </p:nvSpPr>
        <p:spPr>
          <a:xfrm xmlns:a="http://schemas.openxmlformats.org/drawingml/2006/main">
            <a:off x="762000" y="6229350"/>
            <a:ext cx="9715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36B76"/>
                </a:solidFill>
                <a:latin typeface="Helvetica Neue"/>
                <a:ea typeface="Helvetica Neue"/>
                <a:cs typeface="Helvetica Neue"/>
              </a:defRPr>
            </a:defPPr>
          </a:lstStyle>
          <a:p xmlns:a="http://schemas.openxmlformats.org/drawingml/2006/main">
            <a:pPr>
              <a:defRPr sz="1275" b="0">
                <a:solidFill>
                  <a:srgbClr val="536B76"/>
                </a:solidFill>
                <a:latin typeface="Helvetica Neue"/>
                <a:ea typeface="Helvetica Neue"/>
                <a:cs typeface="Helvetica Neue"/>
              </a:defRPr>
            </a:pPr>
            <a:r>
              <a:rPr sz="1275" b="0">
                <a:solidFill>
                  <a:srgbClr val="536B76"/>
                </a:solidFill>
                <a:latin typeface="Helvetica Neue"/>
                <a:ea typeface="Helvetica Neue"/>
                <a:cs typeface="Helvetica Neue"/>
              </a:rPr>
              <a:t>Proyecto en desarrollo · 30 s</a:t>
            </a:r>
          </a:p>
        </p:txBody>
      </p:sp>
      <p:sp>
        <p:nvSpPr>
          <p:cNvPr id="6" name="">
            <a:extLst xmlns:a="http://schemas.openxmlformats.org/drawingml/2006/main">
              <a:ext uri="{FF2B5EF4-FFF2-40B4-BE49-F238E27FC236}">
                <a16:creationId xmlns:a16="http://schemas.microsoft.com/office/drawing/2014/main" id="{120CEFCB-DDA8-4647-9A7E-EA0ECAC32174}"/>
              </a:ext>
            </a:extLst>
          </p:cNvPr>
          <p:cNvSpPr>
            <a:spLocks xmlns:a="http://schemas.openxmlformats.org/drawingml/2006/main" noGrp="1"/>
          </p:cNvSpPr>
          <p:nvPr/>
        </p:nvSpPr>
        <p:spPr>
          <a:xfrm xmlns:a="http://schemas.openxmlformats.org/drawingml/2006/main">
            <a:off x="10763250" y="6229350"/>
            <a:ext cx="762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36B76"/>
                </a:solidFill>
                <a:latin typeface="Helvetica Neue"/>
                <a:ea typeface="Helvetica Neue"/>
                <a:cs typeface="Helvetica Neue"/>
              </a:defRPr>
            </a:defPPr>
          </a:lstStyle>
          <a:p xmlns:a="http://schemas.openxmlformats.org/drawingml/2006/main">
            <a:pPr>
              <a:defRPr sz="1275" b="0">
                <a:solidFill>
                  <a:srgbClr val="536B76"/>
                </a:solidFill>
                <a:latin typeface="Helvetica Neue"/>
                <a:ea typeface="Helvetica Neue"/>
                <a:cs typeface="Helvetica Neue"/>
              </a:defRPr>
            </a:pPr>
            <a:r>
              <a:rPr sz="1275" b="0">
                <a:solidFill>
                  <a:srgbClr val="536B76"/>
                </a:solidFill>
                <a:latin typeface="Helvetica Neue"/>
                <a:ea typeface="Helvetica Neue"/>
                <a:cs typeface="Helvetica Neue"/>
              </a:rPr>
              <a:t>1 / 5</a:t>
            </a:r>
          </a:p>
        </p:txBody>
      </p:sp>
    </p:spTree>
    <p:extLst>
      <p:ext uri="{BB962C8B-B14F-4D97-AF65-F5344CB8AC3E}">
        <p14:creationId xmlns:p14="http://schemas.microsoft.com/office/powerpoint/2010/main" val="828996150"/>
      </p:ext>
    </p:extLst>
  </p:cSld>
</p:sld>
</file>

<file path=ppt/slides/slide2.xml><?xml version="1.0" encoding="utf-8"?>
<p:sld xmlns:p="http://schemas.openxmlformats.org/presentationml/2006/main">
  <p:cSld>
    <p:bg>
      <p:bgPr>
        <a:solidFill xmlns:a="http://schemas.openxmlformats.org/drawingml/2006/main">
          <a:srgbClr val="FFFCF7"/>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AC061659-6F26-46D2-AA96-0EB17111FBEE}"/>
              </a:ext>
            </a:extLst>
          </p:cNvPr>
          <p:cNvSpPr>
            <a:spLocks xmlns:a="http://schemas.openxmlformats.org/drawingml/2006/main" noGrp="1"/>
          </p:cNvSpPr>
          <p:nvPr/>
        </p:nvSpPr>
        <p:spPr>
          <a:xfrm xmlns:a="http://schemas.openxmlformats.org/drawingml/2006/main">
            <a:off x="723900" y="495300"/>
            <a:ext cx="1076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75" b="1">
                <a:solidFill>
                  <a:srgbClr val="087E9A"/>
                </a:solidFill>
                <a:latin typeface="Helvetica Neue"/>
                <a:ea typeface="Helvetica Neue"/>
                <a:cs typeface="Helvetica Neue"/>
              </a:defRPr>
            </a:defPPr>
          </a:lstStyle>
          <a:p xmlns:a="http://schemas.openxmlformats.org/drawingml/2006/main">
            <a:pPr>
              <a:defRPr sz="2475" b="1">
                <a:solidFill>
                  <a:srgbClr val="087E9A"/>
                </a:solidFill>
                <a:latin typeface="Helvetica Neue"/>
                <a:ea typeface="Helvetica Neue"/>
                <a:cs typeface="Helvetica Neue"/>
              </a:defRPr>
            </a:pPr>
            <a:r>
              <a:rPr sz="2475" b="1">
                <a:solidFill>
                  <a:srgbClr val="087E9A"/>
                </a:solidFill>
                <a:latin typeface="Helvetica Neue"/>
                <a:ea typeface="Helvetica Neue"/>
                <a:cs typeface="Helvetica Neue"/>
              </a:rPr>
              <a:t>El impacto · tiempo y herramientas</a:t>
            </a:r>
          </a:p>
        </p:txBody>
      </p:sp>
      <p:sp>
        <p:nvSpPr>
          <p:cNvPr id="2" name="">
            <a:extLst xmlns:a="http://schemas.openxmlformats.org/drawingml/2006/main">
              <a:ext uri="{FF2B5EF4-FFF2-40B4-BE49-F238E27FC236}">
                <a16:creationId xmlns:a16="http://schemas.microsoft.com/office/drawing/2014/main" id="{18B450E8-E8C4-4B34-AF27-CA73179D647F}"/>
              </a:ext>
            </a:extLst>
          </p:cNvPr>
          <p:cNvSpPr>
            <a:spLocks xmlns:a="http://schemas.openxmlformats.org/drawingml/2006/main" noGrp="1"/>
          </p:cNvSpPr>
          <p:nvPr/>
        </p:nvSpPr>
        <p:spPr>
          <a:xfrm xmlns:a="http://schemas.openxmlformats.org/drawingml/2006/main">
            <a:off x="762000" y="1647825"/>
            <a:ext cx="50482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7800" b="1">
                <a:solidFill>
                  <a:srgbClr val="087E9A"/>
                </a:solidFill>
                <a:latin typeface="Helvetica Neue"/>
                <a:ea typeface="Helvetica Neue"/>
                <a:cs typeface="Helvetica Neue"/>
              </a:defRPr>
            </a:defPPr>
          </a:lstStyle>
          <a:p xmlns:a="http://schemas.openxmlformats.org/drawingml/2006/main">
            <a:pPr>
              <a:defRPr sz="7800" b="1">
                <a:solidFill>
                  <a:srgbClr val="087E9A"/>
                </a:solidFill>
                <a:latin typeface="Helvetica Neue"/>
                <a:ea typeface="Helvetica Neue"/>
                <a:cs typeface="Helvetica Neue"/>
              </a:defRPr>
            </a:pPr>
            <a:r>
              <a:rPr sz="7800" b="1">
                <a:solidFill>
                  <a:srgbClr val="087E9A"/>
                </a:solidFill>
                <a:latin typeface="Helvetica Neue"/>
                <a:ea typeface="Helvetica Neue"/>
                <a:cs typeface="Helvetica Neue"/>
              </a:rPr>
              <a:t>60%</a:t>
            </a:r>
          </a:p>
        </p:txBody>
      </p:sp>
      <p:sp>
        <p:nvSpPr>
          <p:cNvPr id="3" name="">
            <a:extLst xmlns:a="http://schemas.openxmlformats.org/drawingml/2006/main">
              <a:ext uri="{FF2B5EF4-FFF2-40B4-BE49-F238E27FC236}">
                <a16:creationId xmlns:a16="http://schemas.microsoft.com/office/drawing/2014/main" id="{EF133C73-720D-47DA-947C-09F3D1072F10}"/>
              </a:ext>
            </a:extLst>
          </p:cNvPr>
          <p:cNvSpPr>
            <a:spLocks xmlns:a="http://schemas.openxmlformats.org/drawingml/2006/main" noGrp="1"/>
          </p:cNvSpPr>
          <p:nvPr/>
        </p:nvSpPr>
        <p:spPr>
          <a:xfrm xmlns:a="http://schemas.openxmlformats.org/drawingml/2006/main">
            <a:off x="762000" y="3105150"/>
            <a:ext cx="4905375" cy="1485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83B50"/>
                </a:solidFill>
                <a:latin typeface="Helvetica Neue"/>
                <a:ea typeface="Helvetica Neue"/>
                <a:cs typeface="Helvetica Neue"/>
              </a:defRPr>
            </a:defPPr>
          </a:lstStyle>
          <a:p xmlns:a="http://schemas.openxmlformats.org/drawingml/2006/main">
            <a:pPr>
              <a:defRPr sz="2250" b="0">
                <a:solidFill>
                  <a:srgbClr val="183B50"/>
                </a:solidFill>
                <a:latin typeface="Helvetica Neue"/>
                <a:ea typeface="Helvetica Neue"/>
                <a:cs typeface="Helvetica Neue"/>
              </a:defRPr>
            </a:pPr>
            <a:r>
              <a:rPr sz="2250" b="0">
                <a:solidFill>
                  <a:srgbClr val="183B50"/>
                </a:solidFill>
                <a:latin typeface="Helvetica Neue"/>
                <a:ea typeface="Helvetica Neue"/>
                <a:cs typeface="Helvetica Neue"/>
              </a:rPr>
              <a:t>del tiempo de los representantes</a:t>
            </a:r>
          </a:p>
          <a:p xmlns:a="http://schemas.openxmlformats.org/drawingml/2006/main">
            <a:pPr>
              <a:defRPr sz="2250" b="0">
                <a:solidFill>
                  <a:srgbClr val="183B50"/>
                </a:solidFill>
                <a:latin typeface="Helvetica Neue"/>
                <a:ea typeface="Helvetica Neue"/>
                <a:cs typeface="Helvetica Neue"/>
              </a:defRPr>
            </a:pPr>
            <a:r>
              <a:rPr sz="2250" b="0">
                <a:solidFill>
                  <a:srgbClr val="183B50"/>
                </a:solidFill>
                <a:latin typeface="Helvetica Neue"/>
                <a:ea typeface="Helvetica Neue"/>
                <a:cs typeface="Helvetica Neue"/>
              </a:rPr>
              <a:t>de ventas se dedica a actividades</a:t>
            </a:r>
          </a:p>
          <a:p xmlns:a="http://schemas.openxmlformats.org/drawingml/2006/main">
            <a:pPr>
              <a:defRPr sz="2250" b="0">
                <a:solidFill>
                  <a:srgbClr val="183B50"/>
                </a:solidFill>
                <a:latin typeface="Helvetica Neue"/>
                <a:ea typeface="Helvetica Neue"/>
                <a:cs typeface="Helvetica Neue"/>
              </a:defRPr>
            </a:pPr>
            <a:r>
              <a:rPr sz="2250" b="0">
                <a:solidFill>
                  <a:srgbClr val="183B50"/>
                </a:solidFill>
                <a:latin typeface="Helvetica Neue"/>
                <a:ea typeface="Helvetica Neue"/>
                <a:cs typeface="Helvetica Neue"/>
              </a:rPr>
              <a:t>distintas de vender.</a:t>
            </a:r>
          </a:p>
        </p:txBody>
      </p:sp>
      <p:sp>
        <p:nvSpPr>
          <p:cNvPr id="4" name="">
            <a:extLst xmlns:a="http://schemas.openxmlformats.org/drawingml/2006/main">
              <a:ext uri="{FF2B5EF4-FFF2-40B4-BE49-F238E27FC236}">
                <a16:creationId xmlns:a16="http://schemas.microsoft.com/office/drawing/2014/main" id="{A9AA6896-F990-4A1D-89CA-44296FCF3F13}"/>
              </a:ext>
            </a:extLst>
          </p:cNvPr>
          <p:cNvSpPr>
            <a:spLocks xmlns:a="http://schemas.openxmlformats.org/drawingml/2006/main" noGrp="1"/>
          </p:cNvSpPr>
          <p:nvPr/>
        </p:nvSpPr>
        <p:spPr>
          <a:xfrm xmlns:a="http://schemas.openxmlformats.org/drawingml/2006/main">
            <a:off x="6524625" y="1647825"/>
            <a:ext cx="50482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7800" b="1">
                <a:solidFill>
                  <a:srgbClr val="087E9A"/>
                </a:solidFill>
                <a:latin typeface="Helvetica Neue"/>
                <a:ea typeface="Helvetica Neue"/>
                <a:cs typeface="Helvetica Neue"/>
              </a:defRPr>
            </a:defPPr>
          </a:lstStyle>
          <a:p xmlns:a="http://schemas.openxmlformats.org/drawingml/2006/main">
            <a:pPr>
              <a:defRPr sz="7800" b="1">
                <a:solidFill>
                  <a:srgbClr val="087E9A"/>
                </a:solidFill>
                <a:latin typeface="Helvetica Neue"/>
                <a:ea typeface="Helvetica Neue"/>
                <a:cs typeface="Helvetica Neue"/>
              </a:defRPr>
            </a:pPr>
            <a:r>
              <a:rPr sz="7800" b="1">
                <a:solidFill>
                  <a:srgbClr val="087E9A"/>
                </a:solidFill>
                <a:latin typeface="Helvetica Neue"/>
                <a:ea typeface="Helvetica Neue"/>
                <a:cs typeface="Helvetica Neue"/>
              </a:rPr>
              <a:t>42%</a:t>
            </a:r>
          </a:p>
        </p:txBody>
      </p:sp>
      <p:sp>
        <p:nvSpPr>
          <p:cNvPr id="5" name="">
            <a:extLst xmlns:a="http://schemas.openxmlformats.org/drawingml/2006/main">
              <a:ext uri="{FF2B5EF4-FFF2-40B4-BE49-F238E27FC236}">
                <a16:creationId xmlns:a16="http://schemas.microsoft.com/office/drawing/2014/main" id="{37C4AF1D-A592-45E8-AB90-A38B3D2064F7}"/>
              </a:ext>
            </a:extLst>
          </p:cNvPr>
          <p:cNvSpPr>
            <a:spLocks xmlns:a="http://schemas.openxmlformats.org/drawingml/2006/main" noGrp="1"/>
          </p:cNvSpPr>
          <p:nvPr/>
        </p:nvSpPr>
        <p:spPr>
          <a:xfrm xmlns:a="http://schemas.openxmlformats.org/drawingml/2006/main">
            <a:off x="6524625" y="3105150"/>
            <a:ext cx="4905375" cy="1485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83B50"/>
                </a:solidFill>
                <a:latin typeface="Helvetica Neue"/>
                <a:ea typeface="Helvetica Neue"/>
                <a:cs typeface="Helvetica Neue"/>
              </a:defRPr>
            </a:defPPr>
          </a:lstStyle>
          <a:p xmlns:a="http://schemas.openxmlformats.org/drawingml/2006/main">
            <a:pPr>
              <a:defRPr sz="2250" b="0">
                <a:solidFill>
                  <a:srgbClr val="183B50"/>
                </a:solidFill>
                <a:latin typeface="Helvetica Neue"/>
                <a:ea typeface="Helvetica Neue"/>
                <a:cs typeface="Helvetica Neue"/>
              </a:defRPr>
            </a:pPr>
            <a:r>
              <a:rPr sz="2250" b="0">
                <a:solidFill>
                  <a:srgbClr val="183B50"/>
                </a:solidFill>
                <a:latin typeface="Helvetica Neue"/>
                <a:ea typeface="Helvetica Neue"/>
                <a:cs typeface="Helvetica Neue"/>
              </a:rPr>
              <a:t>de los representantes de ventas</a:t>
            </a:r>
          </a:p>
          <a:p xmlns:a="http://schemas.openxmlformats.org/drawingml/2006/main">
            <a:pPr>
              <a:defRPr sz="2250" b="0">
                <a:solidFill>
                  <a:srgbClr val="183B50"/>
                </a:solidFill>
                <a:latin typeface="Helvetica Neue"/>
                <a:ea typeface="Helvetica Neue"/>
                <a:cs typeface="Helvetica Neue"/>
              </a:defRPr>
            </a:pPr>
            <a:r>
              <a:rPr sz="2250" b="0">
                <a:solidFill>
                  <a:srgbClr val="183B50"/>
                </a:solidFill>
                <a:latin typeface="Helvetica Neue"/>
                <a:ea typeface="Helvetica Neue"/>
                <a:cs typeface="Helvetica Neue"/>
              </a:rPr>
              <a:t>se siente abrumado por la</a:t>
            </a:r>
          </a:p>
          <a:p xmlns:a="http://schemas.openxmlformats.org/drawingml/2006/main">
            <a:pPr>
              <a:defRPr sz="2250" b="0">
                <a:solidFill>
                  <a:srgbClr val="183B50"/>
                </a:solidFill>
                <a:latin typeface="Helvetica Neue"/>
                <a:ea typeface="Helvetica Neue"/>
                <a:cs typeface="Helvetica Neue"/>
              </a:defRPr>
            </a:pPr>
            <a:r>
              <a:rPr sz="2250" b="0">
                <a:solidFill>
                  <a:srgbClr val="183B50"/>
                </a:solidFill>
                <a:latin typeface="Helvetica Neue"/>
                <a:ea typeface="Helvetica Neue"/>
                <a:cs typeface="Helvetica Neue"/>
              </a:rPr>
              <a:t>cantidad de herramientas.</a:t>
            </a:r>
          </a:p>
        </p:txBody>
      </p:sp>
      <p:sp>
        <p:nvSpPr>
          <p:cNvPr id="6" name="">
            <a:extLst xmlns:a="http://schemas.openxmlformats.org/drawingml/2006/main">
              <a:ext uri="{FF2B5EF4-FFF2-40B4-BE49-F238E27FC236}">
                <a16:creationId xmlns:a16="http://schemas.microsoft.com/office/drawing/2014/main" id="{EE0ACD7F-07F6-4EA2-B009-4D1CFD9F7C0A}"/>
              </a:ext>
            </a:extLst>
          </p:cNvPr>
          <p:cNvSpPr>
            <a:spLocks xmlns:a="http://schemas.openxmlformats.org/drawingml/2006/main" noGrp="1"/>
          </p:cNvSpPr>
          <p:nvPr/>
        </p:nvSpPr>
        <p:spPr>
          <a:xfrm xmlns:a="http://schemas.openxmlformats.org/drawingml/2006/main">
            <a:off x="762000" y="5029200"/>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B65422"/>
                </a:solidFill>
                <a:latin typeface="Helvetica Neue"/>
                <a:ea typeface="Helvetica Neue"/>
                <a:cs typeface="Helvetica Neue"/>
              </a:defRPr>
            </a:defPPr>
          </a:lstStyle>
          <a:p xmlns:a="http://schemas.openxmlformats.org/drawingml/2006/main">
            <a:pPr>
              <a:defRPr sz="1875" b="0">
                <a:solidFill>
                  <a:srgbClr val="B65422"/>
                </a:solidFill>
                <a:latin typeface="Helvetica Neue"/>
                <a:ea typeface="Helvetica Neue"/>
                <a:cs typeface="Helvetica Neue"/>
              </a:defRPr>
            </a:pPr>
            <a:r>
              <a:rPr sz="1875" b="0">
                <a:solidFill>
                  <a:srgbClr val="B65422"/>
                </a:solidFill>
                <a:latin typeface="Helvetica Neue"/>
                <a:ea typeface="Helvetica Neue"/>
                <a:cs typeface="Helvetica Neue"/>
              </a:rPr>
              <a:t>Contexto del problema; no equivale a tiempo recuperable.</a:t>
            </a:r>
          </a:p>
        </p:txBody>
      </p:sp>
      <p:sp>
        <p:nvSpPr>
          <p:cNvPr id="7" name="">
            <a:extLst xmlns:a="http://schemas.openxmlformats.org/drawingml/2006/main">
              <a:ext uri="{FF2B5EF4-FFF2-40B4-BE49-F238E27FC236}">
                <a16:creationId xmlns:a16="http://schemas.microsoft.com/office/drawing/2014/main" id="{17D785F7-F906-4296-8060-D3BC9BA9B18C}"/>
              </a:ext>
            </a:extLst>
          </p:cNvPr>
          <p:cNvSpPr>
            <a:spLocks xmlns:a="http://schemas.openxmlformats.org/drawingml/2006/main" noGrp="1"/>
          </p:cNvSpPr>
          <p:nvPr/>
        </p:nvSpPr>
        <p:spPr>
          <a:xfrm xmlns:a="http://schemas.openxmlformats.org/drawingml/2006/main">
            <a:off x="762000" y="5619750"/>
            <a:ext cx="10668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0">
                <a:solidFill>
                  <a:srgbClr val="536B76"/>
                </a:solidFill>
                <a:latin typeface="Helvetica Neue"/>
                <a:ea typeface="Helvetica Neue"/>
                <a:cs typeface="Helvetica Neue"/>
              </a:defRPr>
            </a:defPPr>
          </a:lstStyle>
          <a:p xmlns:a="http://schemas.openxmlformats.org/drawingml/2006/main">
            <a:pPr>
              <a:defRPr sz="1425" b="0">
                <a:solidFill>
                  <a:srgbClr val="536B76"/>
                </a:solidFill>
                <a:latin typeface="Helvetica Neue"/>
                <a:ea typeface="Helvetica Neue"/>
                <a:cs typeface="Helvetica Neue"/>
              </a:defRPr>
            </a:pPr>
            <a:r>
              <a:rPr sz="1425" b="0">
                <a:solidFill>
                  <a:srgbClr val="536B76"/>
                </a:solidFill>
                <a:latin typeface="Helvetica Neue"/>
                <a:ea typeface="Helvetica Neue"/>
                <a:cs typeface="Helvetica Neue"/>
              </a:rPr>
              <a:t>Fuente: Salesforce · State of Sales, 7.ª ed. (2026), pp. 8 y 16</a:t>
            </a:r>
          </a:p>
        </p:txBody>
      </p:sp>
      <p:sp>
        <p:nvSpPr>
          <p:cNvPr id="8" name="">
            <a:extLst xmlns:a="http://schemas.openxmlformats.org/drawingml/2006/main">
              <a:ext uri="{FF2B5EF4-FFF2-40B4-BE49-F238E27FC236}">
                <a16:creationId xmlns:a16="http://schemas.microsoft.com/office/drawing/2014/main" id="{FB8F5BD6-AB62-4441-A277-E5BBD1DD656F}"/>
              </a:ext>
            </a:extLst>
          </p:cNvPr>
          <p:cNvSpPr>
            <a:spLocks xmlns:a="http://schemas.openxmlformats.org/drawingml/2006/main" noGrp="1"/>
          </p:cNvSpPr>
          <p:nvPr/>
        </p:nvSpPr>
        <p:spPr>
          <a:xfrm xmlns:a="http://schemas.openxmlformats.org/drawingml/2006/main">
            <a:off x="762000" y="6229350"/>
            <a:ext cx="9715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36B76"/>
                </a:solidFill>
                <a:latin typeface="Helvetica Neue"/>
                <a:ea typeface="Helvetica Neue"/>
                <a:cs typeface="Helvetica Neue"/>
              </a:defRPr>
            </a:defPPr>
          </a:lstStyle>
          <a:p xmlns:a="http://schemas.openxmlformats.org/drawingml/2006/main">
            <a:pPr>
              <a:defRPr sz="1275" b="0">
                <a:solidFill>
                  <a:srgbClr val="536B76"/>
                </a:solidFill>
                <a:latin typeface="Helvetica Neue"/>
                <a:ea typeface="Helvetica Neue"/>
                <a:cs typeface="Helvetica Neue"/>
              </a:defRPr>
            </a:pPr>
            <a:r>
              <a:rPr sz="1275" b="0">
                <a:solidFill>
                  <a:srgbClr val="536B76"/>
                </a:solidFill>
                <a:latin typeface="Helvetica Neue"/>
                <a:ea typeface="Helvetica Neue"/>
                <a:cs typeface="Helvetica Neue"/>
              </a:rPr>
              <a:t>Proyecto en desarrollo · 25 s</a:t>
            </a:r>
          </a:p>
        </p:txBody>
      </p:sp>
      <p:sp>
        <p:nvSpPr>
          <p:cNvPr id="9" name="">
            <a:extLst xmlns:a="http://schemas.openxmlformats.org/drawingml/2006/main">
              <a:ext uri="{FF2B5EF4-FFF2-40B4-BE49-F238E27FC236}">
                <a16:creationId xmlns:a16="http://schemas.microsoft.com/office/drawing/2014/main" id="{115B2B5A-3278-4420-805B-3852FB4A23B8}"/>
              </a:ext>
            </a:extLst>
          </p:cNvPr>
          <p:cNvSpPr>
            <a:spLocks xmlns:a="http://schemas.openxmlformats.org/drawingml/2006/main" noGrp="1"/>
          </p:cNvSpPr>
          <p:nvPr/>
        </p:nvSpPr>
        <p:spPr>
          <a:xfrm xmlns:a="http://schemas.openxmlformats.org/drawingml/2006/main">
            <a:off x="10763250" y="6229350"/>
            <a:ext cx="762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36B76"/>
                </a:solidFill>
                <a:latin typeface="Helvetica Neue"/>
                <a:ea typeface="Helvetica Neue"/>
                <a:cs typeface="Helvetica Neue"/>
              </a:defRPr>
            </a:defPPr>
          </a:lstStyle>
          <a:p xmlns:a="http://schemas.openxmlformats.org/drawingml/2006/main">
            <a:pPr>
              <a:defRPr sz="1275" b="0">
                <a:solidFill>
                  <a:srgbClr val="536B76"/>
                </a:solidFill>
                <a:latin typeface="Helvetica Neue"/>
                <a:ea typeface="Helvetica Neue"/>
                <a:cs typeface="Helvetica Neue"/>
              </a:defRPr>
            </a:pPr>
            <a:r>
              <a:rPr sz="1275" b="0">
                <a:solidFill>
                  <a:srgbClr val="536B76"/>
                </a:solidFill>
                <a:latin typeface="Helvetica Neue"/>
                <a:ea typeface="Helvetica Neue"/>
                <a:cs typeface="Helvetica Neue"/>
              </a:rPr>
              <a:t>2 / 5</a:t>
            </a:r>
          </a:p>
        </p:txBody>
      </p:sp>
    </p:spTree>
    <p:extLst>
      <p:ext uri="{BB962C8B-B14F-4D97-AF65-F5344CB8AC3E}">
        <p14:creationId xmlns:p14="http://schemas.microsoft.com/office/powerpoint/2010/main" val="535361421"/>
      </p:ext>
    </p:extLst>
  </p:cSld>
</p:sld>
</file>

<file path=ppt/slides/slide3.xml><?xml version="1.0" encoding="utf-8"?>
<p:sld xmlns:p="http://schemas.openxmlformats.org/presentationml/2006/main">
  <p:cSld>
    <p:bg>
      <p:bgPr>
        <a:solidFill xmlns:a="http://schemas.openxmlformats.org/drawingml/2006/main">
          <a:srgbClr val="EAF6F7"/>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4FE37E9-1970-4570-AC66-E924BAEC4769}"/>
              </a:ext>
            </a:extLst>
          </p:cNvPr>
          <p:cNvSpPr>
            <a:spLocks xmlns:a="http://schemas.openxmlformats.org/drawingml/2006/main" noGrp="1"/>
          </p:cNvSpPr>
          <p:nvPr/>
        </p:nvSpPr>
        <p:spPr>
          <a:xfrm xmlns:a="http://schemas.openxmlformats.org/drawingml/2006/main">
            <a:off x="723900" y="495300"/>
            <a:ext cx="1076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75" b="1">
                <a:solidFill>
                  <a:srgbClr val="087E9A"/>
                </a:solidFill>
                <a:latin typeface="Helvetica Neue"/>
                <a:ea typeface="Helvetica Neue"/>
                <a:cs typeface="Helvetica Neue"/>
              </a:defRPr>
            </a:defPPr>
          </a:lstStyle>
          <a:p xmlns:a="http://schemas.openxmlformats.org/drawingml/2006/main">
            <a:pPr>
              <a:defRPr sz="2475" b="1">
                <a:solidFill>
                  <a:srgbClr val="087E9A"/>
                </a:solidFill>
                <a:latin typeface="Helvetica Neue"/>
                <a:ea typeface="Helvetica Neue"/>
                <a:cs typeface="Helvetica Neue"/>
              </a:defRPr>
            </a:pPr>
            <a:r>
              <a:rPr sz="2475" b="1">
                <a:solidFill>
                  <a:srgbClr val="087E9A"/>
                </a:solidFill>
                <a:latin typeface="Helvetica Neue"/>
                <a:ea typeface="Helvetica Neue"/>
                <a:cs typeface="Helvetica Neue"/>
              </a:rPr>
              <a:t>La solución · Frontier Agent</a:t>
            </a:r>
          </a:p>
        </p:txBody>
      </p:sp>
      <p:sp>
        <p:nvSpPr>
          <p:cNvPr id="2" name="">
            <a:extLst xmlns:a="http://schemas.openxmlformats.org/drawingml/2006/main">
              <a:ext uri="{FF2B5EF4-FFF2-40B4-BE49-F238E27FC236}">
                <a16:creationId xmlns:a16="http://schemas.microsoft.com/office/drawing/2014/main" id="{A715525D-83F9-4F19-8547-3FB3EE8923D8}"/>
              </a:ext>
            </a:extLst>
          </p:cNvPr>
          <p:cNvSpPr>
            <a:spLocks xmlns:a="http://schemas.openxmlformats.org/drawingml/2006/main" noGrp="1"/>
          </p:cNvSpPr>
          <p:nvPr/>
        </p:nvSpPr>
        <p:spPr>
          <a:xfrm xmlns:a="http://schemas.openxmlformats.org/drawingml/2006/main">
            <a:off x="723900" y="1524000"/>
            <a:ext cx="10763250" cy="1609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125" b="1">
                <a:solidFill>
                  <a:srgbClr val="183B50"/>
                </a:solidFill>
                <a:latin typeface="Helvetica Neue"/>
                <a:ea typeface="Helvetica Neue"/>
                <a:cs typeface="Helvetica Neue"/>
              </a:defRPr>
            </a:defPPr>
          </a:lstStyle>
          <a:p xmlns:a="http://schemas.openxmlformats.org/drawingml/2006/main">
            <a:pPr>
              <a:defRPr sz="4125" b="1">
                <a:solidFill>
                  <a:srgbClr val="183B50"/>
                </a:solidFill>
                <a:latin typeface="Helvetica Neue"/>
                <a:ea typeface="Helvetica Neue"/>
                <a:cs typeface="Helvetica Neue"/>
              </a:defRPr>
            </a:pPr>
            <a:r>
              <a:rPr sz="4125" b="1">
                <a:solidFill>
                  <a:srgbClr val="183B50"/>
                </a:solidFill>
                <a:latin typeface="Helvetica Neue"/>
                <a:ea typeface="Helvetica Neue"/>
                <a:cs typeface="Helvetica Neue"/>
              </a:rPr>
              <a:t>Tú defines la tarea.</a:t>
            </a:r>
          </a:p>
          <a:p xmlns:a="http://schemas.openxmlformats.org/drawingml/2006/main">
            <a:pPr>
              <a:defRPr sz="4125" b="1">
                <a:solidFill>
                  <a:srgbClr val="183B50"/>
                </a:solidFill>
                <a:latin typeface="Helvetica Neue"/>
                <a:ea typeface="Helvetica Neue"/>
                <a:cs typeface="Helvetica Neue"/>
              </a:defRPr>
            </a:pPr>
            <a:r>
              <a:rPr sz="4125" b="1">
                <a:solidFill>
                  <a:srgbClr val="183B50"/>
                </a:solidFill>
                <a:latin typeface="Helvetica Neue"/>
                <a:ea typeface="Helvetica Neue"/>
                <a:cs typeface="Helvetica Neue"/>
              </a:rPr>
              <a:t>El agente decide cómo resolverla.</a:t>
            </a:r>
          </a:p>
        </p:txBody>
      </p:sp>
      <p:sp>
        <p:nvSpPr>
          <p:cNvPr id="3" name="">
            <a:extLst xmlns:a="http://schemas.openxmlformats.org/drawingml/2006/main">
              <a:ext uri="{FF2B5EF4-FFF2-40B4-BE49-F238E27FC236}">
                <a16:creationId xmlns:a16="http://schemas.microsoft.com/office/drawing/2014/main" id="{7025B076-B565-42BE-A76A-AD8FF86F8E3E}"/>
              </a:ext>
            </a:extLst>
          </p:cNvPr>
          <p:cNvSpPr>
            <a:spLocks xmlns:a="http://schemas.openxmlformats.org/drawingml/2006/main" noGrp="1"/>
          </p:cNvSpPr>
          <p:nvPr/>
        </p:nvSpPr>
        <p:spPr>
          <a:xfrm xmlns:a="http://schemas.openxmlformats.org/drawingml/2006/main">
            <a:off x="762000" y="3867150"/>
            <a:ext cx="10572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087E9A"/>
                </a:solidFill>
                <a:latin typeface="Helvetica Neue"/>
                <a:ea typeface="Helvetica Neue"/>
                <a:cs typeface="Helvetica Neue"/>
              </a:defRPr>
            </a:defPPr>
          </a:lstStyle>
          <a:p xmlns:a="http://schemas.openxmlformats.org/drawingml/2006/main">
            <a:pPr>
              <a:defRPr sz="2850" b="1">
                <a:solidFill>
                  <a:srgbClr val="087E9A"/>
                </a:solidFill>
                <a:latin typeface="Helvetica Neue"/>
                <a:ea typeface="Helvetica Neue"/>
                <a:cs typeface="Helvetica Neue"/>
              </a:defRPr>
            </a:pPr>
            <a:r>
              <a:rPr sz="2850" b="1">
                <a:solidFill>
                  <a:srgbClr val="087E9A"/>
                </a:solidFill>
                <a:latin typeface="Helvetica Neue"/>
                <a:ea typeface="Helvetica Neue"/>
                <a:cs typeface="Helvetica Neue"/>
              </a:rPr>
              <a:t>Observa  →  Decide  →  Actúa  →  Verifica</a:t>
            </a:r>
          </a:p>
        </p:txBody>
      </p:sp>
      <p:sp>
        <p:nvSpPr>
          <p:cNvPr id="4" name="">
            <a:extLst xmlns:a="http://schemas.openxmlformats.org/drawingml/2006/main">
              <a:ext uri="{FF2B5EF4-FFF2-40B4-BE49-F238E27FC236}">
                <a16:creationId xmlns:a16="http://schemas.microsoft.com/office/drawing/2014/main" id="{8561AC77-81BA-4EF4-B228-5919ACB296AA}"/>
              </a:ext>
            </a:extLst>
          </p:cNvPr>
          <p:cNvSpPr>
            <a:spLocks xmlns:a="http://schemas.openxmlformats.org/drawingml/2006/main" noGrp="1"/>
          </p:cNvSpPr>
          <p:nvPr/>
        </p:nvSpPr>
        <p:spPr>
          <a:xfrm xmlns:a="http://schemas.openxmlformats.org/drawingml/2006/main">
            <a:off x="762000" y="5324475"/>
            <a:ext cx="106680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B65422"/>
                </a:solidFill>
                <a:latin typeface="Helvetica Neue"/>
                <a:ea typeface="Helvetica Neue"/>
                <a:cs typeface="Helvetica Neue"/>
              </a:defRPr>
            </a:defPPr>
          </a:lstStyle>
          <a:p xmlns:a="http://schemas.openxmlformats.org/drawingml/2006/main">
            <a:pPr>
              <a:defRPr sz="1875" b="0">
                <a:solidFill>
                  <a:srgbClr val="B65422"/>
                </a:solidFill>
                <a:latin typeface="Helvetica Neue"/>
                <a:ea typeface="Helvetica Neue"/>
                <a:cs typeface="Helvetica Neue"/>
              </a:defRPr>
            </a:pPr>
            <a:r>
              <a:rPr sz="1875" b="0">
                <a:solidFill>
                  <a:srgbClr val="B65422"/>
                </a:solidFill>
                <a:latin typeface="Helvetica Neue"/>
                <a:ea typeface="Helvetica Neue"/>
                <a:cs typeface="Helvetica Neue"/>
              </a:rPr>
              <a:t>Diseñado para adaptar el recorrido a una app nueva, sin API.</a:t>
            </a:r>
          </a:p>
        </p:txBody>
      </p:sp>
      <p:sp>
        <p:nvSpPr>
          <p:cNvPr id="5" name="">
            <a:extLst xmlns:a="http://schemas.openxmlformats.org/drawingml/2006/main">
              <a:ext uri="{FF2B5EF4-FFF2-40B4-BE49-F238E27FC236}">
                <a16:creationId xmlns:a16="http://schemas.microsoft.com/office/drawing/2014/main" id="{9ADC2D54-D009-4738-BE67-E3D4DBD1AD03}"/>
              </a:ext>
            </a:extLst>
          </p:cNvPr>
          <p:cNvSpPr>
            <a:spLocks xmlns:a="http://schemas.openxmlformats.org/drawingml/2006/main" noGrp="1"/>
          </p:cNvSpPr>
          <p:nvPr/>
        </p:nvSpPr>
        <p:spPr>
          <a:xfrm xmlns:a="http://schemas.openxmlformats.org/drawingml/2006/main">
            <a:off x="762000" y="6229350"/>
            <a:ext cx="9715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36B76"/>
                </a:solidFill>
                <a:latin typeface="Helvetica Neue"/>
                <a:ea typeface="Helvetica Neue"/>
                <a:cs typeface="Helvetica Neue"/>
              </a:defRPr>
            </a:defPPr>
          </a:lstStyle>
          <a:p xmlns:a="http://schemas.openxmlformats.org/drawingml/2006/main">
            <a:pPr>
              <a:defRPr sz="1275" b="0">
                <a:solidFill>
                  <a:srgbClr val="536B76"/>
                </a:solidFill>
                <a:latin typeface="Helvetica Neue"/>
                <a:ea typeface="Helvetica Neue"/>
                <a:cs typeface="Helvetica Neue"/>
              </a:defRPr>
            </a:pPr>
            <a:r>
              <a:rPr sz="1275" b="0">
                <a:solidFill>
                  <a:srgbClr val="536B76"/>
                </a:solidFill>
                <a:latin typeface="Helvetica Neue"/>
                <a:ea typeface="Helvetica Neue"/>
                <a:cs typeface="Helvetica Neue"/>
              </a:rPr>
              <a:t>Proyecto en desarrollo · 40 s</a:t>
            </a:r>
          </a:p>
        </p:txBody>
      </p:sp>
      <p:sp>
        <p:nvSpPr>
          <p:cNvPr id="6" name="">
            <a:extLst xmlns:a="http://schemas.openxmlformats.org/drawingml/2006/main">
              <a:ext uri="{FF2B5EF4-FFF2-40B4-BE49-F238E27FC236}">
                <a16:creationId xmlns:a16="http://schemas.microsoft.com/office/drawing/2014/main" id="{33F5E2E8-C367-4B6C-89B1-F33FA70C19B2}"/>
              </a:ext>
            </a:extLst>
          </p:cNvPr>
          <p:cNvSpPr>
            <a:spLocks xmlns:a="http://schemas.openxmlformats.org/drawingml/2006/main" noGrp="1"/>
          </p:cNvSpPr>
          <p:nvPr/>
        </p:nvSpPr>
        <p:spPr>
          <a:xfrm xmlns:a="http://schemas.openxmlformats.org/drawingml/2006/main">
            <a:off x="10763250" y="6229350"/>
            <a:ext cx="762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36B76"/>
                </a:solidFill>
                <a:latin typeface="Helvetica Neue"/>
                <a:ea typeface="Helvetica Neue"/>
                <a:cs typeface="Helvetica Neue"/>
              </a:defRPr>
            </a:defPPr>
          </a:lstStyle>
          <a:p xmlns:a="http://schemas.openxmlformats.org/drawingml/2006/main">
            <a:pPr>
              <a:defRPr sz="1275" b="0">
                <a:solidFill>
                  <a:srgbClr val="536B76"/>
                </a:solidFill>
                <a:latin typeface="Helvetica Neue"/>
                <a:ea typeface="Helvetica Neue"/>
                <a:cs typeface="Helvetica Neue"/>
              </a:defRPr>
            </a:pPr>
            <a:r>
              <a:rPr sz="1275" b="0">
                <a:solidFill>
                  <a:srgbClr val="536B76"/>
                </a:solidFill>
                <a:latin typeface="Helvetica Neue"/>
                <a:ea typeface="Helvetica Neue"/>
                <a:cs typeface="Helvetica Neue"/>
              </a:rPr>
              <a:t>3 / 5</a:t>
            </a:r>
          </a:p>
        </p:txBody>
      </p:sp>
    </p:spTree>
    <p:extLst>
      <p:ext uri="{BB962C8B-B14F-4D97-AF65-F5344CB8AC3E}">
        <p14:creationId xmlns:p14="http://schemas.microsoft.com/office/powerpoint/2010/main" val="970327342"/>
      </p:ext>
    </p:extLst>
  </p:cSld>
</p:sld>
</file>

<file path=ppt/slides/slide4.xml><?xml version="1.0" encoding="utf-8"?>
<p:sld xmlns:p="http://schemas.openxmlformats.org/presentationml/2006/main">
  <p:cSld>
    <p:bg>
      <p:bgPr>
        <a:solidFill xmlns:a="http://schemas.openxmlformats.org/drawingml/2006/main">
          <a:srgbClr val="FFFCF7"/>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B40F68A-587F-4A6B-A745-882743152C07}"/>
              </a:ext>
            </a:extLst>
          </p:cNvPr>
          <p:cNvSpPr>
            <a:spLocks xmlns:a="http://schemas.openxmlformats.org/drawingml/2006/main" noGrp="1"/>
          </p:cNvSpPr>
          <p:nvPr/>
        </p:nvSpPr>
        <p:spPr>
          <a:xfrm xmlns:a="http://schemas.openxmlformats.org/drawingml/2006/main">
            <a:off x="723900" y="495300"/>
            <a:ext cx="1076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75" b="1">
                <a:solidFill>
                  <a:srgbClr val="087E9A"/>
                </a:solidFill>
                <a:latin typeface="Helvetica Neue"/>
                <a:ea typeface="Helvetica Neue"/>
                <a:cs typeface="Helvetica Neue"/>
              </a:defRPr>
            </a:defPPr>
          </a:lstStyle>
          <a:p xmlns:a="http://schemas.openxmlformats.org/drawingml/2006/main">
            <a:pPr>
              <a:defRPr sz="2475" b="1">
                <a:solidFill>
                  <a:srgbClr val="087E9A"/>
                </a:solidFill>
                <a:latin typeface="Helvetica Neue"/>
                <a:ea typeface="Helvetica Neue"/>
                <a:cs typeface="Helvetica Neue"/>
              </a:defRPr>
            </a:pPr>
            <a:r>
              <a:rPr sz="2475" b="1">
                <a:solidFill>
                  <a:srgbClr val="087E9A"/>
                </a:solidFill>
                <a:latin typeface="Helvetica Neue"/>
                <a:ea typeface="Helvetica Neue"/>
                <a:cs typeface="Helvetica Neue"/>
              </a:rPr>
              <a:t>La demo · del objetivo al resultado</a:t>
            </a:r>
          </a:p>
        </p:txBody>
      </p:sp>
      <p:sp>
        <p:nvSpPr>
          <p:cNvPr id="2" name="">
            <a:extLst xmlns:a="http://schemas.openxmlformats.org/drawingml/2006/main">
              <a:ext uri="{FF2B5EF4-FFF2-40B4-BE49-F238E27FC236}">
                <a16:creationId xmlns:a16="http://schemas.microsoft.com/office/drawing/2014/main" id="{494895FC-64BB-479E-B5F8-DB37AECD7983}"/>
              </a:ext>
            </a:extLst>
          </p:cNvPr>
          <p:cNvSpPr>
            <a:spLocks xmlns:a="http://schemas.openxmlformats.org/drawingml/2006/main" noGrp="1"/>
          </p:cNvSpPr>
          <p:nvPr/>
        </p:nvSpPr>
        <p:spPr>
          <a:xfrm xmlns:a="http://schemas.openxmlformats.org/drawingml/2006/main">
            <a:off x="723900" y="1485900"/>
            <a:ext cx="1076325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350" b="1">
                <a:solidFill>
                  <a:srgbClr val="183B50"/>
                </a:solidFill>
                <a:latin typeface="Helvetica Neue"/>
                <a:ea typeface="Helvetica Neue"/>
                <a:cs typeface="Helvetica Neue"/>
              </a:defRPr>
            </a:defPPr>
          </a:lstStyle>
          <a:p xmlns:a="http://schemas.openxmlformats.org/drawingml/2006/main">
            <a:pPr>
              <a:defRPr sz="4350" b="1">
                <a:solidFill>
                  <a:srgbClr val="183B50"/>
                </a:solidFill>
                <a:latin typeface="Helvetica Neue"/>
                <a:ea typeface="Helvetica Neue"/>
                <a:cs typeface="Helvetica Neue"/>
              </a:defRPr>
            </a:pPr>
            <a:r>
              <a:rPr sz="4350" b="1">
                <a:solidFill>
                  <a:srgbClr val="183B50"/>
                </a:solidFill>
                <a:latin typeface="Helvetica Neue"/>
                <a:ea typeface="Helvetica Neue"/>
                <a:cs typeface="Helvetica Neue"/>
              </a:rPr>
              <a:t>Una instrucción.</a:t>
            </a:r>
          </a:p>
          <a:p xmlns:a="http://schemas.openxmlformats.org/drawingml/2006/main">
            <a:pPr>
              <a:defRPr sz="4350" b="1">
                <a:solidFill>
                  <a:srgbClr val="183B50"/>
                </a:solidFill>
                <a:latin typeface="Helvetica Neue"/>
                <a:ea typeface="Helvetica Neue"/>
                <a:cs typeface="Helvetica Neue"/>
              </a:defRPr>
            </a:pPr>
            <a:r>
              <a:rPr sz="4350" b="1">
                <a:solidFill>
                  <a:srgbClr val="183B50"/>
                </a:solidFill>
                <a:latin typeface="Helvetica Neue"/>
                <a:ea typeface="Helvetica Neue"/>
                <a:cs typeface="Helvetica Neue"/>
              </a:rPr>
              <a:t>Una app nueva.</a:t>
            </a:r>
          </a:p>
        </p:txBody>
      </p:sp>
      <p:sp>
        <p:nvSpPr>
          <p:cNvPr id="3" name="">
            <a:extLst xmlns:a="http://schemas.openxmlformats.org/drawingml/2006/main">
              <a:ext uri="{FF2B5EF4-FFF2-40B4-BE49-F238E27FC236}">
                <a16:creationId xmlns:a16="http://schemas.microsoft.com/office/drawing/2014/main" id="{900619A6-471C-4A34-9CA2-709CBD65BB50}"/>
              </a:ext>
            </a:extLst>
          </p:cNvPr>
          <p:cNvSpPr>
            <a:spLocks xmlns:a="http://schemas.openxmlformats.org/drawingml/2006/main" noGrp="1"/>
          </p:cNvSpPr>
          <p:nvPr/>
        </p:nvSpPr>
        <p:spPr>
          <a:xfrm xmlns:a="http://schemas.openxmlformats.org/drawingml/2006/main">
            <a:off x="762000" y="3429000"/>
            <a:ext cx="106680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83B50"/>
                </a:solidFill>
                <a:latin typeface="Helvetica Neue"/>
                <a:ea typeface="Helvetica Neue"/>
                <a:cs typeface="Helvetica Neue"/>
              </a:defRPr>
            </a:defPPr>
          </a:lstStyle>
          <a:p xmlns:a="http://schemas.openxmlformats.org/drawingml/2006/main">
            <a:pPr>
              <a:defRPr sz="2325" b="0">
                <a:solidFill>
                  <a:srgbClr val="183B50"/>
                </a:solidFill>
                <a:latin typeface="Helvetica Neue"/>
                <a:ea typeface="Helvetica Neue"/>
                <a:cs typeface="Helvetica Neue"/>
              </a:defRPr>
            </a:pPr>
            <a:r>
              <a:rPr sz="2325" b="0">
                <a:solidFill>
                  <a:srgbClr val="183B50"/>
                </a:solidFill>
                <a:latin typeface="Helvetica Neue"/>
                <a:ea typeface="Helvetica Neue"/>
                <a:cs typeface="Helvetica Neue"/>
              </a:rPr>
              <a:t>01   [Tarea validada y pantalla inicial]</a:t>
            </a:r>
          </a:p>
          <a:p xmlns:a="http://schemas.openxmlformats.org/drawingml/2006/main">
            <a:pPr>
              <a:defRPr sz="2325" b="0">
                <a:solidFill>
                  <a:srgbClr val="183B50"/>
                </a:solidFill>
                <a:latin typeface="Helvetica Neue"/>
                <a:ea typeface="Helvetica Neue"/>
                <a:cs typeface="Helvetica Neue"/>
              </a:defRPr>
            </a:pPr>
            <a:r>
              <a:rPr sz="2325" b="0">
                <a:solidFill>
                  <a:srgbClr val="183B50"/>
                </a:solidFill>
                <a:latin typeface="Helvetica Neue"/>
                <a:ea typeface="Helvetica Neue"/>
                <a:cs typeface="Helvetica Neue"/>
              </a:rPr>
              <a:t>02   [Decisión y acción visibles]</a:t>
            </a:r>
          </a:p>
          <a:p xmlns:a="http://schemas.openxmlformats.org/drawingml/2006/main">
            <a:pPr>
              <a:defRPr sz="2325" b="0">
                <a:solidFill>
                  <a:srgbClr val="183B50"/>
                </a:solidFill>
                <a:latin typeface="Helvetica Neue"/>
                <a:ea typeface="Helvetica Neue"/>
                <a:cs typeface="Helvetica Neue"/>
              </a:defRPr>
            </a:pPr>
            <a:r>
              <a:rPr sz="2325" b="0">
                <a:solidFill>
                  <a:srgbClr val="183B50"/>
                </a:solidFill>
                <a:latin typeface="Helvetica Neue"/>
                <a:ea typeface="Helvetica Neue"/>
                <a:cs typeface="Helvetica Neue"/>
              </a:rPr>
              <a:t>03   [Resultado y chequeo externo]</a:t>
            </a:r>
          </a:p>
        </p:txBody>
      </p:sp>
      <p:sp>
        <p:nvSpPr>
          <p:cNvPr id="4" name="">
            <a:extLst xmlns:a="http://schemas.openxmlformats.org/drawingml/2006/main">
              <a:ext uri="{FF2B5EF4-FFF2-40B4-BE49-F238E27FC236}">
                <a16:creationId xmlns:a16="http://schemas.microsoft.com/office/drawing/2014/main" id="{DCE1FFF6-526E-4C5D-BB86-BB249EA554C9}"/>
              </a:ext>
            </a:extLst>
          </p:cNvPr>
          <p:cNvSpPr>
            <a:spLocks xmlns:a="http://schemas.openxmlformats.org/drawingml/2006/main" noGrp="1"/>
          </p:cNvSpPr>
          <p:nvPr/>
        </p:nvSpPr>
        <p:spPr>
          <a:xfrm xmlns:a="http://schemas.openxmlformats.org/drawingml/2006/main">
            <a:off x="762000" y="5324475"/>
            <a:ext cx="106680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B65422"/>
                </a:solidFill>
                <a:latin typeface="Helvetica Neue"/>
                <a:ea typeface="Helvetica Neue"/>
                <a:cs typeface="Helvetica Neue"/>
              </a:defRPr>
            </a:defPPr>
          </a:lstStyle>
          <a:p xmlns:a="http://schemas.openxmlformats.org/drawingml/2006/main">
            <a:pPr>
              <a:defRPr sz="1875" b="0">
                <a:solidFill>
                  <a:srgbClr val="B65422"/>
                </a:solidFill>
                <a:latin typeface="Helvetica Neue"/>
                <a:ea typeface="Helvetica Neue"/>
                <a:cs typeface="Helvetica Neue"/>
              </a:defRPr>
            </a:pPr>
            <a:r>
              <a:rPr sz="1875" b="0">
                <a:solidFill>
                  <a:srgbClr val="B65422"/>
                </a:solidFill>
                <a:latin typeface="Helvetica Neue"/>
                <a:ea typeface="Helvetica Neue"/>
                <a:cs typeface="Helvetica Neue"/>
              </a:rPr>
              <a:t>Ejecución real por incorporar al cierre del reto.</a:t>
            </a:r>
          </a:p>
        </p:txBody>
      </p:sp>
      <p:sp>
        <p:nvSpPr>
          <p:cNvPr id="5" name="">
            <a:extLst xmlns:a="http://schemas.openxmlformats.org/drawingml/2006/main">
              <a:ext uri="{FF2B5EF4-FFF2-40B4-BE49-F238E27FC236}">
                <a16:creationId xmlns:a16="http://schemas.microsoft.com/office/drawing/2014/main" id="{FC02BD8B-662C-42A4-8341-EA7CD25BF392}"/>
              </a:ext>
            </a:extLst>
          </p:cNvPr>
          <p:cNvSpPr>
            <a:spLocks xmlns:a="http://schemas.openxmlformats.org/drawingml/2006/main" noGrp="1"/>
          </p:cNvSpPr>
          <p:nvPr/>
        </p:nvSpPr>
        <p:spPr>
          <a:xfrm xmlns:a="http://schemas.openxmlformats.org/drawingml/2006/main">
            <a:off x="762000" y="6229350"/>
            <a:ext cx="9715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36B76"/>
                </a:solidFill>
                <a:latin typeface="Helvetica Neue"/>
                <a:ea typeface="Helvetica Neue"/>
                <a:cs typeface="Helvetica Neue"/>
              </a:defRPr>
            </a:defPPr>
          </a:lstStyle>
          <a:p xmlns:a="http://schemas.openxmlformats.org/drawingml/2006/main">
            <a:pPr>
              <a:defRPr sz="1275" b="0">
                <a:solidFill>
                  <a:srgbClr val="536B76"/>
                </a:solidFill>
                <a:latin typeface="Helvetica Neue"/>
                <a:ea typeface="Helvetica Neue"/>
                <a:cs typeface="Helvetica Neue"/>
              </a:defRPr>
            </a:pPr>
            <a:r>
              <a:rPr sz="1275" b="0">
                <a:solidFill>
                  <a:srgbClr val="536B76"/>
                </a:solidFill>
                <a:latin typeface="Helvetica Neue"/>
                <a:ea typeface="Helvetica Neue"/>
                <a:cs typeface="Helvetica Neue"/>
              </a:rPr>
              <a:t>Proyecto en desarrollo · 60 s</a:t>
            </a:r>
          </a:p>
        </p:txBody>
      </p:sp>
      <p:sp>
        <p:nvSpPr>
          <p:cNvPr id="6" name="">
            <a:extLst xmlns:a="http://schemas.openxmlformats.org/drawingml/2006/main">
              <a:ext uri="{FF2B5EF4-FFF2-40B4-BE49-F238E27FC236}">
                <a16:creationId xmlns:a16="http://schemas.microsoft.com/office/drawing/2014/main" id="{A66D954D-6447-4B15-B685-89EDE30BD085}"/>
              </a:ext>
            </a:extLst>
          </p:cNvPr>
          <p:cNvSpPr>
            <a:spLocks xmlns:a="http://schemas.openxmlformats.org/drawingml/2006/main" noGrp="1"/>
          </p:cNvSpPr>
          <p:nvPr/>
        </p:nvSpPr>
        <p:spPr>
          <a:xfrm xmlns:a="http://schemas.openxmlformats.org/drawingml/2006/main">
            <a:off x="10763250" y="6229350"/>
            <a:ext cx="762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36B76"/>
                </a:solidFill>
                <a:latin typeface="Helvetica Neue"/>
                <a:ea typeface="Helvetica Neue"/>
                <a:cs typeface="Helvetica Neue"/>
              </a:defRPr>
            </a:defPPr>
          </a:lstStyle>
          <a:p xmlns:a="http://schemas.openxmlformats.org/drawingml/2006/main">
            <a:pPr>
              <a:defRPr sz="1275" b="0">
                <a:solidFill>
                  <a:srgbClr val="536B76"/>
                </a:solidFill>
                <a:latin typeface="Helvetica Neue"/>
                <a:ea typeface="Helvetica Neue"/>
                <a:cs typeface="Helvetica Neue"/>
              </a:defRPr>
            </a:pPr>
            <a:r>
              <a:rPr sz="1275" b="0">
                <a:solidFill>
                  <a:srgbClr val="536B76"/>
                </a:solidFill>
                <a:latin typeface="Helvetica Neue"/>
                <a:ea typeface="Helvetica Neue"/>
                <a:cs typeface="Helvetica Neue"/>
              </a:rPr>
              <a:t>4 / 5</a:t>
            </a:r>
          </a:p>
        </p:txBody>
      </p:sp>
    </p:spTree>
    <p:extLst>
      <p:ext uri="{BB962C8B-B14F-4D97-AF65-F5344CB8AC3E}">
        <p14:creationId xmlns:p14="http://schemas.microsoft.com/office/powerpoint/2010/main" val="819885101"/>
      </p:ext>
    </p:extLst>
  </p:cSld>
</p:sld>
</file>

<file path=ppt/slides/slide5.xml><?xml version="1.0" encoding="utf-8"?>
<p:sld xmlns:p="http://schemas.openxmlformats.org/presentationml/2006/main">
  <p:cSld>
    <p:bg>
      <p:bgPr>
        <a:solidFill xmlns:a="http://schemas.openxmlformats.org/drawingml/2006/main">
          <a:srgbClr val="EAF6F7"/>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D0573D1-3352-465E-9667-276149E6348D}"/>
              </a:ext>
            </a:extLst>
          </p:cNvPr>
          <p:cNvSpPr>
            <a:spLocks xmlns:a="http://schemas.openxmlformats.org/drawingml/2006/main" noGrp="1"/>
          </p:cNvSpPr>
          <p:nvPr/>
        </p:nvSpPr>
        <p:spPr>
          <a:xfrm xmlns:a="http://schemas.openxmlformats.org/drawingml/2006/main">
            <a:off x="723900" y="495300"/>
            <a:ext cx="1076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75" b="1">
                <a:solidFill>
                  <a:srgbClr val="087E9A"/>
                </a:solidFill>
                <a:latin typeface="Helvetica Neue"/>
                <a:ea typeface="Helvetica Neue"/>
                <a:cs typeface="Helvetica Neue"/>
              </a:defRPr>
            </a:defPPr>
          </a:lstStyle>
          <a:p xmlns:a="http://schemas.openxmlformats.org/drawingml/2006/main">
            <a:pPr>
              <a:defRPr sz="2475" b="1">
                <a:solidFill>
                  <a:srgbClr val="087E9A"/>
                </a:solidFill>
                <a:latin typeface="Helvetica Neue"/>
                <a:ea typeface="Helvetica Neue"/>
                <a:cs typeface="Helvetica Neue"/>
              </a:defRPr>
            </a:pPr>
            <a:r>
              <a:rPr sz="2475" b="1">
                <a:solidFill>
                  <a:srgbClr val="087E9A"/>
                </a:solidFill>
                <a:latin typeface="Helvetica Neue"/>
                <a:ea typeface="Helvetica Neue"/>
                <a:cs typeface="Helvetica Neue"/>
              </a:rPr>
              <a:t>La evidencia y el siguiente paso</a:t>
            </a:r>
          </a:p>
        </p:txBody>
      </p:sp>
      <p:sp>
        <p:nvSpPr>
          <p:cNvPr id="2" name="">
            <a:extLst xmlns:a="http://schemas.openxmlformats.org/drawingml/2006/main">
              <a:ext uri="{FF2B5EF4-FFF2-40B4-BE49-F238E27FC236}">
                <a16:creationId xmlns:a16="http://schemas.microsoft.com/office/drawing/2014/main" id="{C2FFCE71-E310-45AE-8FC9-2B1B58F753B8}"/>
              </a:ext>
            </a:extLst>
          </p:cNvPr>
          <p:cNvSpPr>
            <a:spLocks xmlns:a="http://schemas.openxmlformats.org/drawingml/2006/main" noGrp="1"/>
          </p:cNvSpPr>
          <p:nvPr/>
        </p:nvSpPr>
        <p:spPr>
          <a:xfrm xmlns:a="http://schemas.openxmlformats.org/drawingml/2006/main">
            <a:off x="723900" y="1504950"/>
            <a:ext cx="1076325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350" b="1">
                <a:solidFill>
                  <a:srgbClr val="183B50"/>
                </a:solidFill>
                <a:latin typeface="Helvetica Neue"/>
                <a:ea typeface="Helvetica Neue"/>
                <a:cs typeface="Helvetica Neue"/>
              </a:defRPr>
            </a:defPPr>
          </a:lstStyle>
          <a:p xmlns:a="http://schemas.openxmlformats.org/drawingml/2006/main">
            <a:pPr>
              <a:defRPr sz="4350" b="1">
                <a:solidFill>
                  <a:srgbClr val="183B50"/>
                </a:solidFill>
                <a:latin typeface="Helvetica Neue"/>
                <a:ea typeface="Helvetica Neue"/>
                <a:cs typeface="Helvetica Neue"/>
              </a:defRPr>
            </a:pPr>
            <a:r>
              <a:rPr sz="4350" b="1">
                <a:solidFill>
                  <a:srgbClr val="183B50"/>
                </a:solidFill>
                <a:latin typeface="Helvetica Neue"/>
                <a:ea typeface="Helvetica Neue"/>
                <a:cs typeface="Helvetica Neue"/>
              </a:rPr>
              <a:t>Delegar el recorrido.</a:t>
            </a:r>
          </a:p>
          <a:p xmlns:a="http://schemas.openxmlformats.org/drawingml/2006/main">
            <a:pPr>
              <a:defRPr sz="4350" b="1">
                <a:solidFill>
                  <a:srgbClr val="183B50"/>
                </a:solidFill>
                <a:latin typeface="Helvetica Neue"/>
                <a:ea typeface="Helvetica Neue"/>
                <a:cs typeface="Helvetica Neue"/>
              </a:defRPr>
            </a:pPr>
            <a:r>
              <a:rPr sz="4350" b="1">
                <a:solidFill>
                  <a:srgbClr val="183B50"/>
                </a:solidFill>
                <a:latin typeface="Helvetica Neue"/>
                <a:ea typeface="Helvetica Neue"/>
                <a:cs typeface="Helvetica Neue"/>
              </a:rPr>
              <a:t>Comprobar el resultado.</a:t>
            </a:r>
          </a:p>
        </p:txBody>
      </p:sp>
      <p:sp>
        <p:nvSpPr>
          <p:cNvPr id="3" name="">
            <a:extLst xmlns:a="http://schemas.openxmlformats.org/drawingml/2006/main">
              <a:ext uri="{FF2B5EF4-FFF2-40B4-BE49-F238E27FC236}">
                <a16:creationId xmlns:a16="http://schemas.microsoft.com/office/drawing/2014/main" id="{12A1D777-1E23-4AFE-BFAD-BC7C8FB2E278}"/>
              </a:ext>
            </a:extLst>
          </p:cNvPr>
          <p:cNvSpPr>
            <a:spLocks xmlns:a="http://schemas.openxmlformats.org/drawingml/2006/main" noGrp="1"/>
          </p:cNvSpPr>
          <p:nvPr/>
        </p:nvSpPr>
        <p:spPr>
          <a:xfrm xmlns:a="http://schemas.openxmlformats.org/drawingml/2006/main">
            <a:off x="762000" y="3705225"/>
            <a:ext cx="10572750"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83B50"/>
                </a:solidFill>
                <a:latin typeface="Helvetica Neue"/>
                <a:ea typeface="Helvetica Neue"/>
                <a:cs typeface="Helvetica Neue"/>
              </a:defRPr>
            </a:defPPr>
          </a:lstStyle>
          <a:p xmlns:a="http://schemas.openxmlformats.org/drawingml/2006/main">
            <a:pPr>
              <a:defRPr sz="2325" b="0">
                <a:solidFill>
                  <a:srgbClr val="183B50"/>
                </a:solidFill>
                <a:latin typeface="Helvetica Neue"/>
                <a:ea typeface="Helvetica Neue"/>
                <a:cs typeface="Helvetica Neue"/>
              </a:defRPr>
            </a:pPr>
            <a:r>
              <a:rPr sz="2325" b="0">
                <a:solidFill>
                  <a:srgbClr val="183B50"/>
                </a:solidFill>
                <a:latin typeface="Helvetica Neue"/>
                <a:ea typeface="Helvetica Neue"/>
                <a:cs typeface="Helvetica Neue"/>
              </a:rPr>
              <a:t>[Resultado real / N ejecuciones / duración]</a:t>
            </a:r>
          </a:p>
          <a:p xmlns:a="http://schemas.openxmlformats.org/drawingml/2006/main">
            <a:pPr>
              <a:defRPr sz="2325" b="0">
                <a:solidFill>
                  <a:srgbClr val="183B50"/>
                </a:solidFill>
                <a:latin typeface="Helvetica Neue"/>
                <a:ea typeface="Helvetica Neue"/>
                <a:cs typeface="Helvetica Neue"/>
              </a:defRPr>
            </a:pPr>
            <a:r>
              <a:rPr sz="2325" b="0">
                <a:solidFill>
                  <a:srgbClr val="183B50"/>
                </a:solidFill>
                <a:latin typeface="Helvetica Neue"/>
                <a:ea typeface="Helvetica Neue"/>
                <a:cs typeface="Helvetica Neue"/>
              </a:rPr>
              <a:t>[Fallo observado y límite que permanece]</a:t>
            </a:r>
          </a:p>
        </p:txBody>
      </p:sp>
      <p:sp>
        <p:nvSpPr>
          <p:cNvPr id="4" name="">
            <a:extLst xmlns:a="http://schemas.openxmlformats.org/drawingml/2006/main">
              <a:ext uri="{FF2B5EF4-FFF2-40B4-BE49-F238E27FC236}">
                <a16:creationId xmlns:a16="http://schemas.microsoft.com/office/drawing/2014/main" id="{733EBA10-4CFC-4F9E-B2C7-BD54C9003B42}"/>
              </a:ext>
            </a:extLst>
          </p:cNvPr>
          <p:cNvSpPr>
            <a:spLocks xmlns:a="http://schemas.openxmlformats.org/drawingml/2006/main" noGrp="1"/>
          </p:cNvSpPr>
          <p:nvPr/>
        </p:nvSpPr>
        <p:spPr>
          <a:xfrm xmlns:a="http://schemas.openxmlformats.org/drawingml/2006/main">
            <a:off x="762000" y="5324475"/>
            <a:ext cx="106680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B65422"/>
                </a:solidFill>
                <a:latin typeface="Helvetica Neue"/>
                <a:ea typeface="Helvetica Neue"/>
                <a:cs typeface="Helvetica Neue"/>
              </a:defRPr>
            </a:defPPr>
          </a:lstStyle>
          <a:p xmlns:a="http://schemas.openxmlformats.org/drawingml/2006/main">
            <a:pPr>
              <a:defRPr sz="1875" b="0">
                <a:solidFill>
                  <a:srgbClr val="B65422"/>
                </a:solidFill>
                <a:latin typeface="Helvetica Neue"/>
                <a:ea typeface="Helvetica Neue"/>
                <a:cs typeface="Helvetica Neue"/>
              </a:defRPr>
            </a:pPr>
            <a:r>
              <a:rPr sz="1875" b="0">
                <a:solidFill>
                  <a:srgbClr val="B65422"/>
                </a:solidFill>
                <a:latin typeface="Helvetica Neue"/>
                <a:ea typeface="Helvetica Neue"/>
                <a:cs typeface="Helvetica Neue"/>
              </a:rPr>
              <a:t>Al terminar: capacidad demostrada y siguiente mejora.</a:t>
            </a:r>
          </a:p>
        </p:txBody>
      </p:sp>
      <p:sp>
        <p:nvSpPr>
          <p:cNvPr id="5" name="">
            <a:extLst xmlns:a="http://schemas.openxmlformats.org/drawingml/2006/main">
              <a:ext uri="{FF2B5EF4-FFF2-40B4-BE49-F238E27FC236}">
                <a16:creationId xmlns:a16="http://schemas.microsoft.com/office/drawing/2014/main" id="{1D49878D-7F5C-4B0C-AFCB-AA13E8D2CC13}"/>
              </a:ext>
            </a:extLst>
          </p:cNvPr>
          <p:cNvSpPr>
            <a:spLocks xmlns:a="http://schemas.openxmlformats.org/drawingml/2006/main" noGrp="1"/>
          </p:cNvSpPr>
          <p:nvPr/>
        </p:nvSpPr>
        <p:spPr>
          <a:xfrm xmlns:a="http://schemas.openxmlformats.org/drawingml/2006/main">
            <a:off x="762000" y="6229350"/>
            <a:ext cx="9715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36B76"/>
                </a:solidFill>
                <a:latin typeface="Helvetica Neue"/>
                <a:ea typeface="Helvetica Neue"/>
                <a:cs typeface="Helvetica Neue"/>
              </a:defRPr>
            </a:defPPr>
          </a:lstStyle>
          <a:p xmlns:a="http://schemas.openxmlformats.org/drawingml/2006/main">
            <a:pPr>
              <a:defRPr sz="1275" b="0">
                <a:solidFill>
                  <a:srgbClr val="536B76"/>
                </a:solidFill>
                <a:latin typeface="Helvetica Neue"/>
                <a:ea typeface="Helvetica Neue"/>
                <a:cs typeface="Helvetica Neue"/>
              </a:defRPr>
            </a:pPr>
            <a:r>
              <a:rPr sz="1275" b="0">
                <a:solidFill>
                  <a:srgbClr val="536B76"/>
                </a:solidFill>
                <a:latin typeface="Helvetica Neue"/>
                <a:ea typeface="Helvetica Neue"/>
                <a:cs typeface="Helvetica Neue"/>
              </a:rPr>
              <a:t>Proyecto en desarrollo · 25 s</a:t>
            </a:r>
          </a:p>
        </p:txBody>
      </p:sp>
      <p:sp>
        <p:nvSpPr>
          <p:cNvPr id="6" name="">
            <a:extLst xmlns:a="http://schemas.openxmlformats.org/drawingml/2006/main">
              <a:ext uri="{FF2B5EF4-FFF2-40B4-BE49-F238E27FC236}">
                <a16:creationId xmlns:a16="http://schemas.microsoft.com/office/drawing/2014/main" id="{C41ADF35-66BC-4477-85B7-8429F5C92177}"/>
              </a:ext>
            </a:extLst>
          </p:cNvPr>
          <p:cNvSpPr>
            <a:spLocks xmlns:a="http://schemas.openxmlformats.org/drawingml/2006/main" noGrp="1"/>
          </p:cNvSpPr>
          <p:nvPr/>
        </p:nvSpPr>
        <p:spPr>
          <a:xfrm xmlns:a="http://schemas.openxmlformats.org/drawingml/2006/main">
            <a:off x="10763250" y="6229350"/>
            <a:ext cx="762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36B76"/>
                </a:solidFill>
                <a:latin typeface="Helvetica Neue"/>
                <a:ea typeface="Helvetica Neue"/>
                <a:cs typeface="Helvetica Neue"/>
              </a:defRPr>
            </a:defPPr>
          </a:lstStyle>
          <a:p xmlns:a="http://schemas.openxmlformats.org/drawingml/2006/main">
            <a:pPr>
              <a:defRPr sz="1275" b="0">
                <a:solidFill>
                  <a:srgbClr val="536B76"/>
                </a:solidFill>
                <a:latin typeface="Helvetica Neue"/>
                <a:ea typeface="Helvetica Neue"/>
                <a:cs typeface="Helvetica Neue"/>
              </a:defRPr>
            </a:pPr>
            <a:r>
              <a:rPr sz="1275" b="0">
                <a:solidFill>
                  <a:srgbClr val="536B76"/>
                </a:solidFill>
                <a:latin typeface="Helvetica Neue"/>
                <a:ea typeface="Helvetica Neue"/>
                <a:cs typeface="Helvetica Neue"/>
              </a:rPr>
              <a:t>5 / 5</a:t>
            </a:r>
          </a:p>
        </p:txBody>
      </p:sp>
    </p:spTree>
    <p:extLst>
      <p:ext uri="{BB962C8B-B14F-4D97-AF65-F5344CB8AC3E}">
        <p14:creationId xmlns:p14="http://schemas.microsoft.com/office/powerpoint/2010/main" val="115241461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2026-10-10T23:49:17.3490000Z</dcterms:created>
  <dcterms:modified xsi:type="dcterms:W3CDTF">2026-10-10T23:49:17.3490000Z</dcterms:modified>
</coreProperties>
</file>